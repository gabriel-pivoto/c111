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396CC8-5BC7-42EC-87A1-9F29FDB1ECD0}" v="1" dt="2026-10-29T22:39:26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Pivoto" userId="55279dd11860b929" providerId="LiveId" clId="{4E5F6A46-C8D2-410C-8A05-F43C0226D0E2}"/>
    <pc:docChg chg="modSld">
      <pc:chgData name="Gabriel Pivoto" userId="55279dd11860b929" providerId="LiveId" clId="{4E5F6A46-C8D2-410C-8A05-F43C0226D0E2}" dt="2026-10-29T23:06:41.849" v="50" actId="6549"/>
      <pc:docMkLst>
        <pc:docMk/>
      </pc:docMkLst>
      <pc:sldChg chg="modSp mod">
        <pc:chgData name="Gabriel Pivoto" userId="55279dd11860b929" providerId="LiveId" clId="{4E5F6A46-C8D2-410C-8A05-F43C0226D0E2}" dt="2026-10-29T22:52:33.281" v="8" actId="20577"/>
        <pc:sldMkLst>
          <pc:docMk/>
          <pc:sldMk cId="0" sldId="258"/>
        </pc:sldMkLst>
        <pc:spChg chg="mod">
          <ac:chgData name="Gabriel Pivoto" userId="55279dd11860b929" providerId="LiveId" clId="{4E5F6A46-C8D2-410C-8A05-F43C0226D0E2}" dt="2026-10-29T22:52:33.281" v="8" actId="20577"/>
          <ac:spMkLst>
            <pc:docMk/>
            <pc:sldMk cId="0" sldId="258"/>
            <ac:spMk id="148" creationId="{00000000-0000-0000-0000-000000000000}"/>
          </ac:spMkLst>
        </pc:spChg>
      </pc:sldChg>
      <pc:sldChg chg="modSp mod">
        <pc:chgData name="Gabriel Pivoto" userId="55279dd11860b929" providerId="LiveId" clId="{4E5F6A46-C8D2-410C-8A05-F43C0226D0E2}" dt="2026-10-29T23:06:41.849" v="50" actId="6549"/>
        <pc:sldMkLst>
          <pc:docMk/>
          <pc:sldMk cId="0" sldId="260"/>
        </pc:sldMkLst>
        <pc:spChg chg="mod">
          <ac:chgData name="Gabriel Pivoto" userId="55279dd11860b929" providerId="LiveId" clId="{4E5F6A46-C8D2-410C-8A05-F43C0226D0E2}" dt="2026-10-29T23:06:41.849" v="50" actId="6549"/>
          <ac:spMkLst>
            <pc:docMk/>
            <pc:sldMk cId="0" sldId="260"/>
            <ac:spMk id="166" creationId="{00000000-0000-0000-0000-000000000000}"/>
          </ac:spMkLst>
        </pc:spChg>
      </pc:sldChg>
      <pc:sldChg chg="modSp mod">
        <pc:chgData name="Gabriel Pivoto" userId="55279dd11860b929" providerId="LiveId" clId="{4E5F6A46-C8D2-410C-8A05-F43C0226D0E2}" dt="2026-10-29T22:39:30.580" v="5" actId="20577"/>
        <pc:sldMkLst>
          <pc:docMk/>
          <pc:sldMk cId="0" sldId="272"/>
        </pc:sldMkLst>
        <pc:spChg chg="mod">
          <ac:chgData name="Gabriel Pivoto" userId="55279dd11860b929" providerId="LiveId" clId="{4E5F6A46-C8D2-410C-8A05-F43C0226D0E2}" dt="2026-10-29T22:39:30.580" v="5" actId="20577"/>
          <ac:spMkLst>
            <pc:docMk/>
            <pc:sldMk cId="0" sldId="272"/>
            <ac:spMk id="3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6bd660c77ffc5b9c_3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h6bd660c77ffc5b9c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6bd660c77ffc5b9c_3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h6bd660c77ffc5b9c_3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6bd660c77ffc5b9c_3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h6bd660c77ffc5b9c_3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6bd660c77ffc5b9c_3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h6bd660c77ffc5b9c_3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6bd660c77ffc5b9c_3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h6bd660c77ffc5b9c_3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6bd660c77ffc5b9c_3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h6bd660c77ffc5b9c_3_1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Frequência é o fator mais forte (correlação 0,58). Quem vai a mais de 90% das aulas tira em média 70,2, contra 64,3 de quem vai a até 70%: quase 6 pontos de diferença. Cada ponto percentual de presença vale cerca de 0,2 ponto na nota. Mensagem principal do trabalho.</a:t>
            </a:r>
            <a:endParaRPr/>
          </a:p>
        </p:txBody>
      </p:sp>
      <p:sp>
        <p:nvSpPr>
          <p:cNvPr id="176" name="Google Shape;176;h6bd660c77ffc5b9c_3_1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6bd660c77ffc5b9c_3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h6bd660c77ffc5b9c_3_1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Cada hora semanal de estudo soma cerca de 0,3 ponto na nota. O ganho continua estável (~1,5 ponto a cada 5 horas) até nas faixas mais altas: não há platô nos dados. Correlação de 0,45, o segundo fator mais forte.</a:t>
            </a:r>
            <a:endParaRPr/>
          </a:p>
        </p:txBody>
      </p:sp>
      <p:sp>
        <p:nvSpPr>
          <p:cNvPr id="188" name="Google Shape;188;h6bd660c77ffc5b9c_3_1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6bd660c77ffc5b9c_3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h6bd660c77ffc5b9c_3_14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10% melhores vão a 91% das aulas (contra 68%) e estudam 10 horas a mais por semana. Têm mais que o dobro de pais muito envolvidos e de acesso alto a recursos. Top 10%: nota 72 ou mais. Base 10%: nota 63 ou menos.</a:t>
            </a:r>
            <a:endParaRPr/>
          </a:p>
        </p:txBody>
      </p:sp>
      <p:sp>
        <p:nvSpPr>
          <p:cNvPr id="200" name="Google Shape;200;h6bd660c77ffc5b9c_3_14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6bd660c77ffc5b9c_3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h6bd660c77ffc5b9c_3_15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Há desigualdade, mas acesso a recursos pesa mais que renda: alunos de baixa renda com muitos recursos (67,5) superam os de alta renda com poucos recursos (66,8). Aponta para distribuição de material e inclusão digital (7,6% dos alunos não têm internet).</a:t>
            </a:r>
            <a:endParaRPr/>
          </a:p>
        </p:txBody>
      </p:sp>
      <p:sp>
        <p:nvSpPr>
          <p:cNvPr id="212" name="Google Shape;212;h6bd660c77ffc5b9c_3_15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6bd660c77ffc5b9c_3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h6bd660c77ffc5b9c_3_16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envolvimento dos pais pesa mais que a escolaridade deles: filhos de pais só com ensino médio, mas muito envolvidos (67,8), superam os de pais pós-graduados pouco envolvidos (67,1). Aproximar família e escola funciona independentemente da formação dos pais.</a:t>
            </a:r>
            <a:endParaRPr/>
          </a:p>
        </p:txBody>
      </p:sp>
      <p:sp>
        <p:nvSpPr>
          <p:cNvPr id="224" name="Google Shape;224;h6bd660c77ffc5b9c_3_16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6bd660c77ffc5b9c_3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h6bd660c77ffc5b9c_3_17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Frequência (0,58) e horas de estudo (0,45) dominam. Notas anteriores e tutoria têm efeito pequeno, e sono e atividade física ficam praticamente em zero. As variáveis quase não se correlacionam entre si: cada uma traz informação própria.</a:t>
            </a:r>
            <a:endParaRPr/>
          </a:p>
        </p:txBody>
      </p:sp>
      <p:sp>
        <p:nvSpPr>
          <p:cNvPr id="236" name="Google Shape;236;h6bd660c77ffc5b9c_3_17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6bd660c77ffc5b9c_3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h6bd660c77ffc5b9c_3_18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Cada sessão mensal de tutoria acrescenta de 0,3 a 0,6 ponto. Quatro sessões rendem cerca de 1,7 ponto a mais que nenhuma. Ajuda, mas vale menos que frequência e estudo regular: é complemento, não substituto.</a:t>
            </a:r>
            <a:endParaRPr/>
          </a:p>
        </p:txBody>
      </p:sp>
      <p:sp>
        <p:nvSpPr>
          <p:cNvPr id="248" name="Google Shape;248;h6bd660c77ffc5b9c_3_18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6bd660c77ffc5b9c_3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h6bd660c77ffc5b9c_3_19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três fatores têm efeito parecido, em torno de 1 ponto entre o pior e o melhor nível. Colegas positivos valem tanto quanto um professor de alta qualidade. Reforça projetos em grupo e monitoria entre alunos.</a:t>
            </a:r>
            <a:endParaRPr/>
          </a:p>
        </p:txBody>
      </p:sp>
      <p:sp>
        <p:nvSpPr>
          <p:cNvPr id="260" name="Google Shape;260;h6bd660c77ffc5b9c_3_19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6bd660c77ffc5b9c_3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h6bd660c77ffc5b9c_3_20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Diferença desprezível: 67,29 na escola privada contra 67,21 na pública. Horas de estudo, frequência e tutoria também são praticamente iguais nos dois grupos. O tipo de escola não define o desempenho neste dataset.</a:t>
            </a:r>
            <a:endParaRPr/>
          </a:p>
        </p:txBody>
      </p:sp>
      <p:sp>
        <p:nvSpPr>
          <p:cNvPr id="272" name="Google Shape;272;h6bd660c77ffc5b9c_3_20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6bd660c77ffc5b9c_3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h6bd660c77ffc5b9c_3_2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Correlação praticamente zero com a nota (-0,02 para sono e 0,03 para atividade física). As variações entre grupos ficam em torno de 1 ponto, sem tendência. São importantes para a saúde, mas não explicam o desempenho aqui.</a:t>
            </a:r>
            <a:endParaRPr/>
          </a:p>
        </p:txBody>
      </p:sp>
      <p:sp>
        <p:nvSpPr>
          <p:cNvPr id="284" name="Google Shape;284;h6bd660c77ffc5b9c_3_2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6bd660c77ffc5b9c_3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h6bd660c77ffc5b9c_3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6bd660c77ffc5b9c_3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h6bd660c77ffc5b9c_3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hyperlink" Target="https://www.kaggle.com/datasets/lainguyn123/student-performance-factors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447674" y="1856170"/>
            <a:ext cx="8248650" cy="71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I – C11/C111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dos Resultados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2901949" y="2696677"/>
            <a:ext cx="3340200" cy="15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Nome do </a:t>
            </a:r>
            <a:r>
              <a:rPr lang="pt-BR" sz="1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pt-BR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Student Performance Factors (Kaggle)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Equipe: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Gabriel de Souza Pivoto – C111 – </a:t>
            </a:r>
            <a:r>
              <a:rPr lang="pt-BR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260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Vinícius de Souza Simões - C111 - 506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2223" y="0"/>
            <a:ext cx="1462163" cy="10763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CONSCIENTIZAÇÃO E COMPREENSÃO</a:t>
            </a:r>
            <a:endParaRPr sz="1100"/>
          </a:p>
        </p:txBody>
      </p:sp>
      <p:sp>
        <p:nvSpPr>
          <p:cNvPr id="139" name="Google Shape;139;p26"/>
          <p:cNvSpPr txBox="1"/>
          <p:nvPr/>
        </p:nvSpPr>
        <p:spPr>
          <a:xfrm>
            <a:off x="215900" y="1337310"/>
            <a:ext cx="8668512" cy="315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breve descrição sobre o </a:t>
            </a:r>
            <a:r>
              <a:rPr lang="pt-BR" sz="1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escolhido (do que se trata o </a:t>
            </a:r>
            <a:r>
              <a:rPr lang="pt-BR" sz="1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)?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Dados de 6.607 estudantes com 20 variáveis sobre hábitos de estudo, contexto familiar, escola, saúde e a nota final no exame (Exam_Score, de 0 a 100). Permite investigar o que explica o desempenho escolar.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visão do grupo, para quem (empresa, problema etc.) a análise deste </a:t>
            </a:r>
            <a:r>
              <a:rPr lang="pt-BR" sz="1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</a:t>
            </a: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ser estratégica?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Escolas e secretarias de educação (onde investir: frequência, recursos, aproximação com as famílias), políticas públicas contra a desigualdade educacional, empresas de reforço escolar e as próprias famílias.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as colunas deste </a:t>
            </a:r>
            <a:r>
              <a:rPr lang="pt-BR" sz="1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Hours_Studied, Attendance, Parental_Involvement, Access_to_Resources, Extracurricular_Activities, Sleep_Hours, Previous_Scores, Motivation_Level, Internet_Access, Tutoring_Sessions, Family_Income, Teacher_Quality, School_Type, Peer_Influence, Physical_Activity, Learning_Disabilities, Parental_Education_Level, Distance_from_Home, Gender, Exam_Score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de acesso ao </a:t>
            </a:r>
            <a:r>
              <a:rPr lang="pt-BR" sz="1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https://www.kaggle.com/datasets/lainguyn123/student-performance-factors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41407" y="0"/>
            <a:ext cx="943024" cy="1252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2223" y="0"/>
            <a:ext cx="1462163" cy="107638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7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CONSCIENTIZAÇÃO E COMPREENSÃO</a:t>
            </a:r>
            <a:endParaRPr sz="1100"/>
          </a:p>
        </p:txBody>
      </p:sp>
      <p:sp>
        <p:nvSpPr>
          <p:cNvPr id="148" name="Google Shape;148;p27"/>
          <p:cNvSpPr txBox="1"/>
          <p:nvPr/>
        </p:nvSpPr>
        <p:spPr>
          <a:xfrm>
            <a:off x="215900" y="786116"/>
            <a:ext cx="8534400" cy="2680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Perguntas a serem respondidas sobre o Dataset escolhido:</a:t>
            </a:r>
            <a:endParaRPr lang="pt-BR" sz="1100" b="1" dirty="0">
              <a:ea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Pergunta 1: </a:t>
            </a:r>
            <a:r>
              <a:rPr lang="pt-BR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frequência às aulas influencia a nota? Quanto vale cada ponto de presença?</a:t>
            </a:r>
            <a:endParaRPr sz="11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Pergunta 2: </a:t>
            </a:r>
            <a:r>
              <a:rPr lang="pt-BR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Quanto mais horas de estudo, maior a nota? Existe retorno decrescente?</a:t>
            </a:r>
            <a:endParaRPr sz="11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Pergunta 3: </a:t>
            </a:r>
            <a:r>
              <a:rPr lang="pt-BR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Qual é o perfil dos 10% melhores alunos comparado aos 10% piores?</a:t>
            </a:r>
            <a:endParaRPr sz="11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Pergunta 4: </a:t>
            </a:r>
            <a:r>
              <a:rPr lang="pt-BR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renda familiar e o acesso a recursos criam desigualdade nas notas?</a:t>
            </a:r>
            <a:endParaRPr sz="11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Pergunta 5: </a:t>
            </a:r>
            <a:r>
              <a:rPr lang="pt-BR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envolvimento e a escolaridade dos pais fazem diferença?</a:t>
            </a:r>
            <a:endParaRPr sz="1100"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Pergunta 6: </a:t>
            </a:r>
            <a:r>
              <a:rPr lang="pt-BR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Entre os fatores numéricos, quais têm maior relação com a nota?</a:t>
            </a:r>
            <a:endParaRPr sz="11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Pergunta 7: </a:t>
            </a:r>
            <a:r>
              <a:rPr lang="pt-BR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Aulas de reforço (tutoria) compensam? Até quantas sessões vale a pena?</a:t>
            </a:r>
            <a:endParaRPr sz="11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Pergunta 8: </a:t>
            </a:r>
            <a:r>
              <a:rPr lang="pt-BR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Motivação, qualidade do professor e influência dos colegas: qual pesa mais?</a:t>
            </a:r>
            <a:endParaRPr sz="11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Pergunta 9: </a:t>
            </a:r>
            <a:r>
              <a:rPr lang="pt-BR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Alunos de escola privada vão melhor que os de escola pública?</a:t>
            </a:r>
            <a:endParaRPr sz="11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Pergunta 10: </a:t>
            </a:r>
            <a:r>
              <a:rPr lang="pt-BR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Horas de sono e atividade física afetam o desempenho?</a:t>
            </a:r>
            <a:endParaRPr sz="1100" dirty="0"/>
          </a:p>
        </p:txBody>
      </p:sp>
      <p:pic>
        <p:nvPicPr>
          <p:cNvPr id="149" name="Google Shape;149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1407" y="0"/>
            <a:ext cx="943024" cy="1252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DESCOBERTA</a:t>
            </a:r>
            <a:endParaRPr sz="1100"/>
          </a:p>
        </p:txBody>
      </p:sp>
      <p:sp>
        <p:nvSpPr>
          <p:cNvPr id="156" name="Google Shape;156;p28"/>
          <p:cNvSpPr txBox="1"/>
          <p:nvPr/>
        </p:nvSpPr>
        <p:spPr>
          <a:xfrm>
            <a:off x="215900" y="882650"/>
            <a:ext cx="5074920" cy="363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exploramos os dados (Python, NumPy, Pandas e Matplotlib):</a:t>
            </a:r>
            <a:endParaRPr sz="1100"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• Limpeza: ausentes preenchidos pela moda e nota 101 limitada a 100</a:t>
            </a:r>
            <a:endParaRPr sz="1100"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• Faixas com pd.cut e médias por grupo com groupby e pivot_table</a:t>
            </a:r>
            <a:endParaRPr sz="1100"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• Correlação de Pearson e tendência linear com np.polyfit</a:t>
            </a:r>
            <a:endParaRPr sz="1100"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• Comparação entre os 10% melhores e os 10% piores alunos</a:t>
            </a:r>
            <a:endParaRPr sz="110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3 maiores desafios do grupo: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1. Dados incompletos: </a:t>
            </a:r>
            <a:r>
              <a:rPr lang="pt-BR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235 valores ausentes em 3 colunas e uma nota impossível (101). Era preciso corrigir sem descartar alunos.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2. Categorias como texto: </a:t>
            </a:r>
            <a:r>
              <a:rPr lang="pt-BR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Low/Medium/High não tinham ordem; convertemos para categorias ordenadas para os gráficos fazerem sentido.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3. Notas muito concentradas: </a:t>
            </a:r>
            <a:r>
              <a:rPr lang="pt-BR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98% entre 60 e 75 (desvio de 3,9). Diferenças de 1 ponto já importam, então comparamos médias por faixa em vez de olhar só a dispersão.</a:t>
            </a:r>
            <a:endParaRPr sz="1100"/>
          </a:p>
        </p:txBody>
      </p:sp>
      <p:pic>
        <p:nvPicPr>
          <p:cNvPr id="157" name="Google Shape;15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2834" y="22498"/>
            <a:ext cx="1376433" cy="1133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 descr="intro_1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52110" y="1577340"/>
            <a:ext cx="3463290" cy="208795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 txBox="1"/>
          <p:nvPr/>
        </p:nvSpPr>
        <p:spPr>
          <a:xfrm>
            <a:off x="5452110" y="3703320"/>
            <a:ext cx="34632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Distribuição das notas: média 67,2 e desvio padrão 3,9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9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</a:t>
            </a:r>
            <a:endParaRPr sz="1100"/>
          </a:p>
        </p:txBody>
      </p:sp>
      <p:sp>
        <p:nvSpPr>
          <p:cNvPr id="166" name="Google Shape;166;p29"/>
          <p:cNvSpPr txBox="1"/>
          <p:nvPr/>
        </p:nvSpPr>
        <p:spPr>
          <a:xfrm>
            <a:off x="215900" y="589265"/>
            <a:ext cx="644652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Respostas para as 10 perguntas nos próximos slides.</a:t>
            </a:r>
            <a:endParaRPr sz="1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Os principais números da análise:</a:t>
            </a:r>
            <a:endParaRPr sz="1100" dirty="0"/>
          </a:p>
        </p:txBody>
      </p:sp>
      <p:pic>
        <p:nvPicPr>
          <p:cNvPr id="167" name="Google Shape;16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/>
          <p:nvPr/>
        </p:nvSpPr>
        <p:spPr>
          <a:xfrm>
            <a:off x="342900" y="1748790"/>
            <a:ext cx="1954530" cy="219456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</p:spPr>
        <p:txBody>
          <a:bodyPr spcFirstLastPara="1" wrap="square" lIns="137150" tIns="34275" rIns="1371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+5,8</a:t>
            </a:r>
            <a:endParaRPr sz="1100"/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pontos na nota média de quem vai a mais de 90% das aulas, comparado a quem vai a até 70%</a:t>
            </a:r>
            <a:endParaRPr sz="1100"/>
          </a:p>
        </p:txBody>
      </p:sp>
      <p:sp>
        <p:nvSpPr>
          <p:cNvPr id="170" name="Google Shape;170;p29"/>
          <p:cNvSpPr/>
          <p:nvPr/>
        </p:nvSpPr>
        <p:spPr>
          <a:xfrm>
            <a:off x="2503170" y="1748790"/>
            <a:ext cx="1954530" cy="219456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</p:spPr>
        <p:txBody>
          <a:bodyPr spcFirstLastPara="1" wrap="square" lIns="137150" tIns="34275" rIns="1371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+0,3</a:t>
            </a:r>
            <a:endParaRPr sz="1100"/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ponto na nota para cada hora semanal a mais de estudo</a:t>
            </a:r>
            <a:endParaRPr sz="1100"/>
          </a:p>
        </p:txBody>
      </p:sp>
      <p:sp>
        <p:nvSpPr>
          <p:cNvPr id="171" name="Google Shape;171;p29"/>
          <p:cNvSpPr/>
          <p:nvPr/>
        </p:nvSpPr>
        <p:spPr>
          <a:xfrm>
            <a:off x="4663440" y="1748790"/>
            <a:ext cx="1954530" cy="219456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</p:spPr>
        <p:txBody>
          <a:bodyPr spcFirstLastPara="1" wrap="square" lIns="137150" tIns="34275" rIns="1371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91% x 68%</a:t>
            </a:r>
            <a:endParaRPr sz="1100"/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frequência média entre os 10% melhores e os 10% piores alunos</a:t>
            </a:r>
            <a:endParaRPr sz="1100"/>
          </a:p>
        </p:txBody>
      </p:sp>
      <p:sp>
        <p:nvSpPr>
          <p:cNvPr id="172" name="Google Shape;172;p29"/>
          <p:cNvSpPr/>
          <p:nvPr/>
        </p:nvSpPr>
        <p:spPr>
          <a:xfrm>
            <a:off x="6823710" y="1748790"/>
            <a:ext cx="1954530" cy="219456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</p:spPr>
        <p:txBody>
          <a:bodyPr spcFirstLastPara="1" wrap="square" lIns="137150" tIns="34275" rIns="1371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≈ 0</a:t>
            </a:r>
            <a:endParaRPr sz="1100"/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relação entre a nota e o sono ou a atividade física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 · PERGUNTA 1</a:t>
            </a:r>
            <a:endParaRPr sz="1100"/>
          </a:p>
        </p:txBody>
      </p:sp>
      <p:sp>
        <p:nvSpPr>
          <p:cNvPr id="180" name="Google Shape;180;p30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frequência às aulas influencia a nota? Quanto vale cada ponto de presença?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 descr="p01_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5361" y="1303020"/>
            <a:ext cx="6450416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>
            <a:off x="342900" y="3840480"/>
            <a:ext cx="843534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Frequência é o fator mais forte (correlação 0,58). Quem vai a mais de 90% das aulas tira em média 70,2, contra 64,3 de quem vai a até 70%: quase 6 pontos de diferença.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Cada ponto percentual de presença vale cerca de 0,2 ponto na nota. Mensagem principal do trabalho.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1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 · PERGUNTA 2</a:t>
            </a:r>
            <a:endParaRPr sz="1100"/>
          </a:p>
        </p:txBody>
      </p:sp>
      <p:sp>
        <p:nvSpPr>
          <p:cNvPr id="192" name="Google Shape;192;p31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Quanto mais horas de estudo, maior a nota? Existe retorno decrescente?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 descr="p02_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2305" y="1303020"/>
            <a:ext cx="645653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/>
        </p:nvSpPr>
        <p:spPr>
          <a:xfrm>
            <a:off x="342900" y="3840480"/>
            <a:ext cx="843534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hora semanal de estudo soma cerca de 0,3 ponto na nota. O ganho continua estável (~1,5 ponto a cada 5 horas) até nas faixas mais altas: não há platô nos dados.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Correlação de 0,45, o segundo fator mais forte.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2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 · PERGUNTA 3</a:t>
            </a:r>
            <a:endParaRPr sz="1100"/>
          </a:p>
        </p:txBody>
      </p:sp>
      <p:sp>
        <p:nvSpPr>
          <p:cNvPr id="204" name="Google Shape;204;p32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Qual é o perfil dos 10% melhores alunos comparado aos 10% piores?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2" descr="p03_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947" y="1303020"/>
            <a:ext cx="6929245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 txBox="1"/>
          <p:nvPr/>
        </p:nvSpPr>
        <p:spPr>
          <a:xfrm>
            <a:off x="342900" y="3840480"/>
            <a:ext cx="843534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10% melhores vão a 91% das aulas (contra 68%) e estudam 10 horas a mais por semana. Têm mais que o dobro de pais muito envolvidos e de acesso alto a recursos.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Top 10%: nota 72 ou mais. Base 10%: nota 63 ou menos.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3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 · PERGUNTA 4</a:t>
            </a:r>
            <a:endParaRPr sz="1100"/>
          </a:p>
        </p:txBody>
      </p:sp>
      <p:sp>
        <p:nvSpPr>
          <p:cNvPr id="216" name="Google Shape;216;p33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renda familiar e o acesso a recursos criam desigualdade nas notas?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3" descr="p04_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990" y="1303020"/>
            <a:ext cx="7977158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3"/>
          <p:cNvSpPr txBox="1"/>
          <p:nvPr/>
        </p:nvSpPr>
        <p:spPr>
          <a:xfrm>
            <a:off x="342900" y="3840480"/>
            <a:ext cx="843534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Há desigualdade, mas acesso a recursos pesa mais que renda: alunos de baixa renda com muitos recursos (67,5) superam os de alta renda com poucos recursos (66,8).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Aponta para distribuição de material e inclusão digital (7,6% dos alunos não têm internet).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4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 · PERGUNTA 5</a:t>
            </a:r>
            <a:endParaRPr sz="1100"/>
          </a:p>
        </p:txBody>
      </p:sp>
      <p:sp>
        <p:nvSpPr>
          <p:cNvPr id="228" name="Google Shape;228;p34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 envolvimento e a escolaridade dos pais fazem diferença?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 descr="p05_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4266" y="1303020"/>
            <a:ext cx="7132607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/>
        </p:nvSpPr>
        <p:spPr>
          <a:xfrm>
            <a:off x="342900" y="3840480"/>
            <a:ext cx="843534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envolvimento dos pais pesa mais que a escolaridade deles: filhos de pais só com ensino médio, mas muito envolvidos (67,8), superam os de pais pós-graduados pouco envolvidos (67,1).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Aproximar família e escola funciona independentemente da formação dos pais.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5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 · PERGUNTA 6</a:t>
            </a:r>
            <a:endParaRPr sz="1100"/>
          </a:p>
        </p:txBody>
      </p:sp>
      <p:sp>
        <p:nvSpPr>
          <p:cNvPr id="240" name="Google Shape;240;p35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Entre os fatores numéricos, quais têm maior relação com a nota?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 descr="p06_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2900" y="1303020"/>
            <a:ext cx="5212080" cy="252921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5"/>
          <p:cNvSpPr txBox="1"/>
          <p:nvPr/>
        </p:nvSpPr>
        <p:spPr>
          <a:xfrm>
            <a:off x="5829300" y="1577340"/>
            <a:ext cx="29489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Frequência (0,58) e horas de estudo (0,45) dominam. Notas anteriores e tutoria têm efeito pequeno, e sono e atividade física ficam praticamente em zero.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As variáveis quase não se correlacionam entre si: cada uma traz informação própria.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6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 · PERGUNTA 7</a:t>
            </a:r>
            <a:endParaRPr sz="1100"/>
          </a:p>
        </p:txBody>
      </p:sp>
      <p:sp>
        <p:nvSpPr>
          <p:cNvPr id="252" name="Google Shape;252;p36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Aulas de reforço (tutoria) compensam? Até quantas sessões vale a pena?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 descr="p07_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2900" y="1303020"/>
            <a:ext cx="5212080" cy="319125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6"/>
          <p:cNvSpPr txBox="1"/>
          <p:nvPr/>
        </p:nvSpPr>
        <p:spPr>
          <a:xfrm>
            <a:off x="5829300" y="1577340"/>
            <a:ext cx="29489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sessão mensal de tutoria acrescenta de 0,3 a 0,6 ponto. Quatro sessões rendem cerca de 1,7 ponto a mais que nenhuma.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Ajuda, mas vale menos que frequência e estudo regular: é complemento, não substituto.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7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 · PERGUNTA 8</a:t>
            </a:r>
            <a:endParaRPr sz="1100"/>
          </a:p>
        </p:txBody>
      </p:sp>
      <p:sp>
        <p:nvSpPr>
          <p:cNvPr id="264" name="Google Shape;264;p37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Motivação, qualidade do professor e influência dos colegas: qual pesa mais?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7" descr="p08_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990" y="1303020"/>
            <a:ext cx="7977158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7"/>
          <p:cNvSpPr txBox="1"/>
          <p:nvPr/>
        </p:nvSpPr>
        <p:spPr>
          <a:xfrm>
            <a:off x="342900" y="3840480"/>
            <a:ext cx="843534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três fatores têm efeito parecido, em torno de 1 ponto entre o pior e o melhor nível. Colegas positivos valem tanto quanto um professor de alta qualidade.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Reforça projetos em grupo e monitoria entre alunos.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8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 · PERGUNTA 9</a:t>
            </a:r>
            <a:endParaRPr sz="1100"/>
          </a:p>
        </p:txBody>
      </p:sp>
      <p:sp>
        <p:nvSpPr>
          <p:cNvPr id="276" name="Google Shape;276;p38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Alunos de escola privada vão melhor que os de escola pública?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8" descr="p09_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2900" y="1303020"/>
            <a:ext cx="5212080" cy="299679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8"/>
          <p:cNvSpPr txBox="1"/>
          <p:nvPr/>
        </p:nvSpPr>
        <p:spPr>
          <a:xfrm>
            <a:off x="5829300" y="1577340"/>
            <a:ext cx="29489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Diferença desprezível: 67,29 na escola privada contra 67,21 na pública. Horas de estudo, frequência e tutoria também são praticamente iguais nos dois grupos.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 tipo de escola não define o desempenho neste dataset.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E DIVULGAÇÃO · PERGUNTA 10</a:t>
            </a:r>
            <a:endParaRPr sz="1100"/>
          </a:p>
        </p:txBody>
      </p:sp>
      <p:sp>
        <p:nvSpPr>
          <p:cNvPr id="288" name="Google Shape;288;p39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Horas de sono e atividade física afetam o desempenho?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9" descr="p10_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6705" y="1303020"/>
            <a:ext cx="7127729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9"/>
          <p:cNvSpPr txBox="1"/>
          <p:nvPr/>
        </p:nvSpPr>
        <p:spPr>
          <a:xfrm>
            <a:off x="342900" y="3840480"/>
            <a:ext cx="843534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Correlação praticamente zero com a nota (-0,02 para sono e 0,03 para atividade física). As variações entre grupos ficam em torno de 1 ponto, sem tendência.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São importantes para a saúde, mas não explicam o desempenho aqui.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 txBox="1"/>
          <p:nvPr/>
        </p:nvSpPr>
        <p:spPr>
          <a:xfrm>
            <a:off x="215900" y="196850"/>
            <a:ext cx="73787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CONCLUSÕES E RECOMENDAÇÕES</a:t>
            </a:r>
            <a:endParaRPr sz="1100"/>
          </a:p>
        </p:txBody>
      </p:sp>
      <p:sp>
        <p:nvSpPr>
          <p:cNvPr id="299" name="Google Shape;299;p40"/>
          <p:cNvSpPr txBox="1"/>
          <p:nvPr/>
        </p:nvSpPr>
        <p:spPr>
          <a:xfrm>
            <a:off x="215900" y="589265"/>
            <a:ext cx="644652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Bom desempenho = hábito (presença e estudo) + rede de apoio (família, recursos e colegas)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2154" y="0"/>
            <a:ext cx="1285941" cy="11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8095" y="35056"/>
            <a:ext cx="1085905" cy="110019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0"/>
          <p:cNvSpPr/>
          <p:nvPr/>
        </p:nvSpPr>
        <p:spPr>
          <a:xfrm>
            <a:off x="342900" y="1645920"/>
            <a:ext cx="2674620" cy="178308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</p:spPr>
        <p:txBody>
          <a:bodyPr spcFirstLastPara="1" wrap="square" lIns="171450" tIns="171450" rIns="171450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Escolas e governo</a:t>
            </a:r>
            <a:endParaRPr sz="11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Priorizar programas contra faltas e evasão e a distribuição de recursos e inclusão digital. São os fatores de maior efeito e atacam a desigualdade.</a:t>
            </a:r>
            <a:endParaRPr sz="1100"/>
          </a:p>
        </p:txBody>
      </p:sp>
      <p:sp>
        <p:nvSpPr>
          <p:cNvPr id="303" name="Google Shape;303;p40"/>
          <p:cNvSpPr/>
          <p:nvPr/>
        </p:nvSpPr>
        <p:spPr>
          <a:xfrm>
            <a:off x="3257550" y="1645920"/>
            <a:ext cx="2674620" cy="178308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</p:spPr>
        <p:txBody>
          <a:bodyPr spcFirstLastPara="1" wrap="square" lIns="171450" tIns="171450" rIns="171450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Famílias</a:t>
            </a:r>
            <a:endParaRPr sz="11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Acompanhar a rotina do aluno vale mais que a formação acadêmica dos pais. Envolvimento é algo que toda família pode oferecer.</a:t>
            </a:r>
            <a:endParaRPr sz="1100"/>
          </a:p>
        </p:txBody>
      </p:sp>
      <p:sp>
        <p:nvSpPr>
          <p:cNvPr id="304" name="Google Shape;304;p40"/>
          <p:cNvSpPr/>
          <p:nvPr/>
        </p:nvSpPr>
        <p:spPr>
          <a:xfrm>
            <a:off x="6172200" y="1645920"/>
            <a:ext cx="2674620" cy="178308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</p:spPr>
        <p:txBody>
          <a:bodyPr spcFirstLastPara="1" wrap="square" lIns="171450" tIns="171450" rIns="171450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Alunos</a:t>
            </a:r>
            <a:endParaRPr sz="11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Presença e constância nas horas de estudo rendem mais que aulas de reforço pontuais. Sono e atividade física não mudam a nota.</a:t>
            </a:r>
            <a:endParaRPr sz="1100"/>
          </a:p>
        </p:txBody>
      </p:sp>
      <p:sp>
        <p:nvSpPr>
          <p:cNvPr id="305" name="Google Shape;305;p40"/>
          <p:cNvSpPr txBox="1"/>
          <p:nvPr/>
        </p:nvSpPr>
        <p:spPr>
          <a:xfrm>
            <a:off x="342900" y="366903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Limitação: o dataset é observacional e, segundo o autor no Kaggle, parcialmente sintético. Os resultados mostram associações, não causalidade.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1"/>
          <p:cNvSpPr txBox="1"/>
          <p:nvPr/>
        </p:nvSpPr>
        <p:spPr>
          <a:xfrm>
            <a:off x="447674" y="1856170"/>
            <a:ext cx="8248650" cy="71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I – C11/C111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dos Resultados</a:t>
            </a:r>
            <a:endParaRPr sz="1100"/>
          </a:p>
        </p:txBody>
      </p:sp>
      <p:sp>
        <p:nvSpPr>
          <p:cNvPr id="312" name="Google Shape;312;p41"/>
          <p:cNvSpPr txBox="1"/>
          <p:nvPr/>
        </p:nvSpPr>
        <p:spPr>
          <a:xfrm>
            <a:off x="2901949" y="2712605"/>
            <a:ext cx="3340100" cy="125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sz="210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Equipe: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Gabriel de Souza Pivoto – C111 – 260</a:t>
            </a:r>
            <a:endParaRPr sz="1100" dirty="0"/>
          </a:p>
          <a:p>
            <a:pPr lvl="0" algn="ctr"/>
            <a:r>
              <a:rPr lang="pt-BR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Vinícius de Souza Simões - C111 - 506</a:t>
            </a:r>
            <a:endParaRPr lang="pt-B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1984</Words>
  <Application>Microsoft Office PowerPoint</Application>
  <PresentationFormat>On-screen Show (16:9)</PresentationFormat>
  <Paragraphs>121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Simple Light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 Pivoto</cp:lastModifiedBy>
  <cp:revision>1</cp:revision>
  <dcterms:modified xsi:type="dcterms:W3CDTF">2026-10-29T23:06:48Z</dcterms:modified>
</cp:coreProperties>
</file>