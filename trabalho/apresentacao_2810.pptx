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11" Type="http://schemas.openxmlformats.org/officeDocument/2006/relationships/slide" Target="slides/slide5.xml"/><Relationship Id="rId22" Type="http://schemas.openxmlformats.org/officeDocument/2006/relationships/slide" Target="slides/slide16.xml"/><Relationship Id="rId10" Type="http://schemas.openxmlformats.org/officeDocument/2006/relationships/slide" Target="slides/slide4.xml"/><Relationship Id="rId21" Type="http://schemas.openxmlformats.org/officeDocument/2006/relationships/slide" Target="slides/slide15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23" Type="http://schemas.openxmlformats.org/officeDocument/2006/relationships/slide" Target="slides/slide17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2.xml"/><Relationship Id="rId19" Type="http://schemas.openxmlformats.org/officeDocument/2006/relationships/slide" Target="slides/slide13.xml"/><Relationship Id="rId6" Type="http://schemas.openxmlformats.org/officeDocument/2006/relationships/notesMaster" Target="notesMasters/notesMaster1.xml"/><Relationship Id="rId18" Type="http://schemas.openxmlformats.org/officeDocument/2006/relationships/slide" Target="slides/slide12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h6bd660c77ffc5b9c_3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h6bd660c77ffc5b9c_3_7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h6bd660c77ffc5b9c_3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h6bd660c77ffc5b9c_3_8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h6bd660c77ffc5b9c_3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h6bd660c77ffc5b9c_3_9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h6bd660c77ffc5b9c_3_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h6bd660c77ffc5b9c_3_9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h6bd660c77ffc5b9c_3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h6bd660c77ffc5b9c_3_10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h6bd660c77ffc5b9c_3_1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h6bd660c77ffc5b9c_3_1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Frequência é o fator mais forte (correlação 0,58). Quem vai a mais de 90% das aulas tira em média 70,2, contra 64,3 de quem vai a até 70%: quase 6 pontos de diferença. Cada ponto percentual de presença vale cerca de 0,2 ponto na nota. Mensagem principal do trabalho.</a:t>
            </a:r>
            <a:endParaRPr/>
          </a:p>
        </p:txBody>
      </p:sp>
      <p:sp>
        <p:nvSpPr>
          <p:cNvPr id="176" name="Google Shape;176;h6bd660c77ffc5b9c_3_1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h6bd660c77ffc5b9c_3_13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7" name="Google Shape;187;h6bd660c77ffc5b9c_3_13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Cada hora semanal de estudo soma cerca de 0,3 ponto na nota. O ganho continua estável (~1,5 ponto a cada 5 horas) até nas faixas mais altas: não há platô nos dados. Correlação de 0,45, o segundo fator mais forte.</a:t>
            </a:r>
            <a:endParaRPr/>
          </a:p>
        </p:txBody>
      </p:sp>
      <p:sp>
        <p:nvSpPr>
          <p:cNvPr id="188" name="Google Shape;188;h6bd660c77ffc5b9c_3_13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h6bd660c77ffc5b9c_3_14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9" name="Google Shape;199;h6bd660c77ffc5b9c_3_14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Os 10% melhores vão a 91% das aulas (contra 68%) e estudam 10 horas a mais por semana. Têm mais que o dobro de pais muito envolvidos e de acesso alto a recursos. Top 10%: nota 72 ou mais. Base 10%: nota 63 ou menos.</a:t>
            </a:r>
            <a:endParaRPr/>
          </a:p>
        </p:txBody>
      </p:sp>
      <p:sp>
        <p:nvSpPr>
          <p:cNvPr id="200" name="Google Shape;200;h6bd660c77ffc5b9c_3_14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h6bd660c77ffc5b9c_3_15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1" name="Google Shape;211;h6bd660c77ffc5b9c_3_15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Há desigualdade, mas acesso a recursos pesa mais que renda: alunos de baixa renda com muitos recursos (67,5) superam os de alta renda com poucos recursos (66,8). Aponta para distribuição de material e inclusão digital (7,6% dos alunos não têm internet).</a:t>
            </a:r>
            <a:endParaRPr/>
          </a:p>
        </p:txBody>
      </p:sp>
      <p:sp>
        <p:nvSpPr>
          <p:cNvPr id="212" name="Google Shape;212;h6bd660c77ffc5b9c_3_15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h6bd660c77ffc5b9c_3_16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3" name="Google Shape;223;h6bd660c77ffc5b9c_3_16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O envolvimento dos pais pesa mais que a escolaridade deles: filhos de pais só com ensino médio, mas muito envolvidos (67,8), superam os de pais pós-graduados pouco envolvidos (67,1). Aproximar família e escola funciona independentemente da formação dos pais.</a:t>
            </a:r>
            <a:endParaRPr/>
          </a:p>
        </p:txBody>
      </p:sp>
      <p:sp>
        <p:nvSpPr>
          <p:cNvPr id="224" name="Google Shape;224;h6bd660c77ffc5b9c_3_16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h6bd660c77ffc5b9c_3_17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5" name="Google Shape;235;h6bd660c77ffc5b9c_3_17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Frequência (0,58) e horas de estudo (0,45) dominam. Notas anteriores e tutoria têm efeito pequeno, e sono e atividade física ficam praticamente em zero. As variáveis quase não se correlacionam entre si: cada uma traz informação própria.</a:t>
            </a:r>
            <a:endParaRPr/>
          </a:p>
        </p:txBody>
      </p:sp>
      <p:sp>
        <p:nvSpPr>
          <p:cNvPr id="236" name="Google Shape;236;h6bd660c77ffc5b9c_3_17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h6bd660c77ffc5b9c_3_18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7" name="Google Shape;247;h6bd660c77ffc5b9c_3_18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Cada sessão mensal de tutoria acrescenta de 0,3 a 0,6 ponto. Quatro sessões rendem cerca de 1,7 ponto a mais que nenhuma. Ajuda, mas vale menos que frequência e estudo regular: é complemento, não substituto.</a:t>
            </a:r>
            <a:endParaRPr/>
          </a:p>
        </p:txBody>
      </p:sp>
      <p:sp>
        <p:nvSpPr>
          <p:cNvPr id="248" name="Google Shape;248;h6bd660c77ffc5b9c_3_18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h6bd660c77ffc5b9c_3_19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9" name="Google Shape;259;h6bd660c77ffc5b9c_3_19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Os três fatores têm efeito parecido, em torno de 1 ponto entre o pior e o melhor nível. Colegas positivos valem tanto quanto um professor de alta qualidade. Reforça projetos em grupo e monitoria entre alunos.</a:t>
            </a:r>
            <a:endParaRPr/>
          </a:p>
        </p:txBody>
      </p:sp>
      <p:sp>
        <p:nvSpPr>
          <p:cNvPr id="260" name="Google Shape;260;h6bd660c77ffc5b9c_3_19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h6bd660c77ffc5b9c_3_20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1" name="Google Shape;271;h6bd660c77ffc5b9c_3_20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Diferença desprezível: 67,29 na escola privada contra 67,21 na pública. Horas de estudo, frequência e tutoria também são praticamente iguais nos dois grupos. O tipo de escola não define o desempenho neste dataset.</a:t>
            </a:r>
            <a:endParaRPr/>
          </a:p>
        </p:txBody>
      </p:sp>
      <p:sp>
        <p:nvSpPr>
          <p:cNvPr id="272" name="Google Shape;272;h6bd660c77ffc5b9c_3_20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h6bd660c77ffc5b9c_3_2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3" name="Google Shape;283;h6bd660c77ffc5b9c_3_2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Correlação praticamente zero com a nota (-0,02 para sono e 0,03 para atividade física). As variações entre grupos ficam em torno de 1 ponto, sem tendência. São importantes para a saúde, mas não explicam o desempenho aqui.</a:t>
            </a:r>
            <a:endParaRPr/>
          </a:p>
        </p:txBody>
      </p:sp>
      <p:sp>
        <p:nvSpPr>
          <p:cNvPr id="284" name="Google Shape;284;h6bd660c77ffc5b9c_3_2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h6bd660c77ffc5b9c_3_2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h6bd660c77ffc5b9c_3_22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h6bd660c77ffc5b9c_3_2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h6bd660c77ffc5b9c_3_24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de título" type="title">
  <p:cSld name="TITLE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" type="subTitle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59" name="Google Shape;59;p14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Google Shape;60;p14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1" name="Google Shape;61;p14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conteúdo" type="obj">
  <p:cSld name="OBJEC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Google Shape;66;p15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Google Shape;67;p15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beçalho da Seção" type="secHead">
  <p:cSld name="SECTION_HEADER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" type="body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71" name="Google Shape;71;p1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Google Shape;72;p16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Google Shape;73;p16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uas Partes de Conteúdo" type="twoObj">
  <p:cSld name="TWO_OBJECTS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7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" type="body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2" type="body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8" name="Google Shape;78;p17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ção" type="twoTxTwoObj">
  <p:cSld name="TWO_OBJECTS_WITH_TEXT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idx="1" type="body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4" name="Google Shape;84;p18"/>
          <p:cNvSpPr txBox="1"/>
          <p:nvPr>
            <p:ph idx="2" type="body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body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6" name="Google Shape;86;p18"/>
          <p:cNvSpPr txBox="1"/>
          <p:nvPr>
            <p:ph idx="4" type="body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8" name="Google Shape;88;p18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9" name="Google Shape;89;p18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mente título" type="titleOnly">
  <p:cSld name="TITLE_ONLY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3" name="Google Shape;93;p19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4" name="Google Shape;94;p19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 branco" type="blank">
  <p:cSld name="BLANK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7" name="Google Shape;97;p20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8" name="Google Shape;98;p20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údo com Legenda" type="objTx">
  <p:cSld name="OBJECT_WITH_CAPTION_TEX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1" name="Google Shape;101;p21"/>
          <p:cNvSpPr txBox="1"/>
          <p:nvPr>
            <p:ph idx="1" type="body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03" name="Google Shape;103;p2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4" name="Google Shape;104;p21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m com Legenda" type="picTx">
  <p:cSld name="PICTURE_WITH_CAPTION_TEXT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8" name="Google Shape;108;p22"/>
          <p:cNvSpPr/>
          <p:nvPr>
            <p:ph idx="2" type="pic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p22"/>
          <p:cNvSpPr txBox="1"/>
          <p:nvPr>
            <p:ph idx="1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10" name="Google Shape;110;p22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1" name="Google Shape;111;p2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2" name="Google Shape;112;p22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texto vertical" type="vertTx">
  <p:cSld name="VERTICAL_TEXT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5" name="Google Shape;115;p23"/>
          <p:cNvSpPr txBox="1"/>
          <p:nvPr>
            <p:ph idx="1" type="body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6" name="Google Shape;116;p23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7" name="Google Shape;117;p2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8" name="Google Shape;118;p2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texto verticais" type="vertTitleAndTx">
  <p:cSld name="VERTICAL_TITLE_AND_VERTICAL_TEXT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1" name="Google Shape;121;p24"/>
          <p:cNvSpPr txBox="1"/>
          <p:nvPr>
            <p:ph idx="1" type="body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24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3" name="Google Shape;123;p24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4" name="Google Shape;124;p24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17.png"/><Relationship Id="rId5" Type="http://schemas.openxmlformats.org/officeDocument/2006/relationships/hyperlink" Target="https://www.kaggle.com/datasets/lainguyn123/student-performance-factors" TargetMode="External"/><Relationship Id="rId6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17.png"/><Relationship Id="rId5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11.png"/><Relationship Id="rId5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15.png"/><Relationship Id="rId5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15.png"/><Relationship Id="rId5" Type="http://schemas.openxmlformats.org/officeDocument/2006/relationships/image" Target="../media/image3.png"/><Relationship Id="rId6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15.png"/><Relationship Id="rId5" Type="http://schemas.openxmlformats.org/officeDocument/2006/relationships/image" Target="../media/image3.png"/><Relationship Id="rId6" Type="http://schemas.openxmlformats.org/officeDocument/2006/relationships/image" Target="../media/image1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15.png"/><Relationship Id="rId5" Type="http://schemas.openxmlformats.org/officeDocument/2006/relationships/image" Target="../media/image3.png"/><Relationship Id="rId6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15.png"/><Relationship Id="rId5" Type="http://schemas.openxmlformats.org/officeDocument/2006/relationships/image" Target="../media/image3.png"/><Relationship Id="rId6" Type="http://schemas.openxmlformats.org/officeDocument/2006/relationships/image" Target="../media/image10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5.png"/><Relationship Id="rId5" Type="http://schemas.openxmlformats.org/officeDocument/2006/relationships/image" Target="../media/image3.png"/><Relationship Id="rId6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15.png"/><Relationship Id="rId5" Type="http://schemas.openxmlformats.org/officeDocument/2006/relationships/image" Target="../media/image3.png"/><Relationship Id="rId6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15.png"/><Relationship Id="rId5" Type="http://schemas.openxmlformats.org/officeDocument/2006/relationships/image" Target="../media/image3.png"/><Relationship Id="rId6" Type="http://schemas.openxmlformats.org/officeDocument/2006/relationships/image" Target="../media/image1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15.png"/><Relationship Id="rId5" Type="http://schemas.openxmlformats.org/officeDocument/2006/relationships/image" Target="../media/image3.png"/><Relationship Id="rId6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15.png"/><Relationship Id="rId5" Type="http://schemas.openxmlformats.org/officeDocument/2006/relationships/image" Target="../media/image3.png"/><Relationship Id="rId6" Type="http://schemas.openxmlformats.org/officeDocument/2006/relationships/image" Target="../media/image1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15.png"/><Relationship Id="rId5" Type="http://schemas.openxmlformats.org/officeDocument/2006/relationships/image" Target="../media/image3.png"/><Relationship Id="rId6" Type="http://schemas.openxmlformats.org/officeDocument/2006/relationships/image" Target="../media/image16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15.png"/><Relationship Id="rId5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9" name="Google Shape;129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5"/>
          <p:cNvSpPr txBox="1"/>
          <p:nvPr/>
        </p:nvSpPr>
        <p:spPr>
          <a:xfrm>
            <a:off x="447674" y="1856170"/>
            <a:ext cx="8248650" cy="71558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Projeto I – C11/C111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Apresentação dos Resultados</a:t>
            </a:r>
            <a:endParaRPr sz="1100"/>
          </a:p>
        </p:txBody>
      </p:sp>
      <p:sp>
        <p:nvSpPr>
          <p:cNvPr id="131" name="Google Shape;131;p25"/>
          <p:cNvSpPr txBox="1"/>
          <p:nvPr/>
        </p:nvSpPr>
        <p:spPr>
          <a:xfrm>
            <a:off x="2901949" y="2696677"/>
            <a:ext cx="3340200" cy="1577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400" u="none" cap="none" strike="noStrike">
                <a:latin typeface="Calibri"/>
                <a:ea typeface="Calibri"/>
                <a:cs typeface="Calibri"/>
                <a:sym typeface="Calibri"/>
              </a:rPr>
              <a:t>Nome do </a:t>
            </a:r>
            <a:r>
              <a:rPr b="1" i="1" lang="pt-BR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Dataset</a:t>
            </a:r>
            <a:r>
              <a:rPr b="1" i="0" lang="pt-BR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1400" u="none" cap="none" strike="noStrike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Student Performance Factors (Kaggle)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Equipe: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1400" u="none" cap="none" strike="noStrike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Gabriel de Souza Pivoto – C111 – </a:t>
            </a:r>
            <a:r>
              <a:rPr lang="pt-BR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260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Vinícius de Souza Simões - C111 - 506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Google Shape;136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37" name="Google Shape;137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62223" y="0"/>
            <a:ext cx="1462163" cy="107638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6"/>
          <p:cNvSpPr txBox="1"/>
          <p:nvPr/>
        </p:nvSpPr>
        <p:spPr>
          <a:xfrm>
            <a:off x="215900" y="196850"/>
            <a:ext cx="7378700" cy="39241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CONSCIENTIZAÇÃO E COMPREENSÃO</a:t>
            </a:r>
            <a:endParaRPr sz="1100"/>
          </a:p>
        </p:txBody>
      </p:sp>
      <p:sp>
        <p:nvSpPr>
          <p:cNvPr id="139" name="Google Shape;139;p26"/>
          <p:cNvSpPr txBox="1"/>
          <p:nvPr/>
        </p:nvSpPr>
        <p:spPr>
          <a:xfrm>
            <a:off x="215900" y="1337310"/>
            <a:ext cx="8668512" cy="315468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Uma breve descrição sobre o </a:t>
            </a:r>
            <a:r>
              <a:rPr b="1" i="1" lang="pt-BR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Dataset</a:t>
            </a:r>
            <a:r>
              <a:rPr b="1" lang="pt-BR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escolhido (do que se trata o </a:t>
            </a:r>
            <a:r>
              <a:rPr b="1" i="1" lang="pt-BR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Dataset</a:t>
            </a:r>
            <a:r>
              <a:rPr b="1" lang="pt-BR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)?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Dados de 6.607 estudantes com 20 variáveis sobre hábitos de estudo, contexto familiar, escola, saúde e a nota final no exame (Exam_Score, de 0 a 100). Permite investigar o que explica o desempenho escolar.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70C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Na visão do grupo, para quem (empresa, problema etc.) a análise deste </a:t>
            </a:r>
            <a:r>
              <a:rPr b="1" i="1" lang="pt-BR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Dataset </a:t>
            </a:r>
            <a:r>
              <a:rPr b="1" lang="pt-BR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pode ser estratégica?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Escolas e secretarias de educação (onde investir: frequência, recursos, aproximação com as famílias), políticas públicas contra a desigualdade educacional, empresas de reforço escolar e as próprias famílias.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rgbClr val="0070C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Quais as colunas deste </a:t>
            </a:r>
            <a:r>
              <a:rPr b="1" i="1" lang="pt-BR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Dataset</a:t>
            </a:r>
            <a:r>
              <a:rPr b="1" lang="pt-BR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?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Hours_Studied, Attendance, Parental_Involvement, Access_to_Resources, Extracurricular_Activities, Sleep_Hours, Previous_Scores, Motivation_Level, Internet_Access, Tutoring_Sessions, Family_Income, Teacher_Quality, School_Type, Peer_Influence, Physical_Activity, Learning_Disabilities, Parental_Education_Level, Distance_from_Home, Gender, Exam_Score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rgbClr val="0070C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Link de acesso ao </a:t>
            </a:r>
            <a:r>
              <a:rPr b="1" i="1" lang="pt-BR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Dataset</a:t>
            </a:r>
            <a:r>
              <a:rPr b="1" lang="pt-BR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https://www.kaggle.com/datasets/lainguyn123/student-performance-factors</a:t>
            </a:r>
            <a:endParaRPr b="1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0" name="Google Shape;140;p2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941407" y="0"/>
            <a:ext cx="943024" cy="12526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5" name="Google Shape;145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62223" y="0"/>
            <a:ext cx="1462163" cy="1076380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7"/>
          <p:cNvSpPr txBox="1"/>
          <p:nvPr/>
        </p:nvSpPr>
        <p:spPr>
          <a:xfrm>
            <a:off x="215900" y="196850"/>
            <a:ext cx="7378700" cy="39241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CONSCIENTIZAÇÃO E COMPREENSÃO</a:t>
            </a:r>
            <a:endParaRPr sz="1100"/>
          </a:p>
        </p:txBody>
      </p:sp>
      <p:sp>
        <p:nvSpPr>
          <p:cNvPr id="148" name="Google Shape;148;p27"/>
          <p:cNvSpPr txBox="1"/>
          <p:nvPr/>
        </p:nvSpPr>
        <p:spPr>
          <a:xfrm>
            <a:off x="215900" y="786116"/>
            <a:ext cx="8534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Perguntas a serem respondidas sobre o Dataset escolhido: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800">
                <a:solidFill>
                  <a:schemeClr val="dk1"/>
                </a:solidFill>
                <a:highlight>
                  <a:srgbClr val="FFFF00"/>
                </a:highlight>
                <a:latin typeface="Calibri"/>
                <a:ea typeface="Calibri"/>
                <a:cs typeface="Calibri"/>
                <a:sym typeface="Calibri"/>
              </a:rPr>
              <a:t>As 5 perguntas mais importantes (de acordo com o grupo) devem vir primeiro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pt-BR" sz="12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Pergunta 1: </a:t>
            </a:r>
            <a:r>
              <a:rPr lang="pt-BR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 frequência às aulas influencia a nota? Quanto vale cada ponto de presença?</a:t>
            </a:r>
            <a:endParaRPr sz="11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pt-BR" sz="12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Pergunta 2: </a:t>
            </a:r>
            <a:r>
              <a:rPr lang="pt-BR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Quanto mais horas de estudo, maior a nota? Existe retorno decrescente?</a:t>
            </a:r>
            <a:endParaRPr sz="11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pt-BR" sz="12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Pergunta 3: </a:t>
            </a:r>
            <a:r>
              <a:rPr lang="pt-BR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Qual é o perfil dos 10% melhores alunos comparado aos 10% piores?</a:t>
            </a:r>
            <a:endParaRPr sz="11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pt-BR" sz="12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Pergunta 4: </a:t>
            </a:r>
            <a:r>
              <a:rPr lang="pt-BR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 renda familiar e o acesso a recursos criam desigualdade nas notas?</a:t>
            </a:r>
            <a:endParaRPr sz="11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pt-BR" sz="12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Pergunta 5: </a:t>
            </a:r>
            <a:r>
              <a:rPr lang="pt-BR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 envolvimento e a escolaridade dos pais fazem diferença?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pt-BR" sz="12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Pergunta 6: </a:t>
            </a:r>
            <a:r>
              <a:rPr lang="pt-BR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Entre os fatores numéricos, quais têm maior relação com a nota?</a:t>
            </a:r>
            <a:endParaRPr sz="11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pt-BR" sz="12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Pergunta 7: </a:t>
            </a:r>
            <a:r>
              <a:rPr lang="pt-BR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Aulas de reforço (tutoria) compensam? Até quantas sessões vale a pena?</a:t>
            </a:r>
            <a:endParaRPr sz="11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pt-BR" sz="12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Pergunta 8: </a:t>
            </a:r>
            <a:r>
              <a:rPr lang="pt-BR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Motivação, qualidade do professor e influência dos colegas: qual pesa mais?</a:t>
            </a:r>
            <a:endParaRPr sz="11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pt-BR" sz="12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Pergunta 9: </a:t>
            </a:r>
            <a:r>
              <a:rPr lang="pt-BR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Alunos de escola privada vão melhor que os de escola pública?</a:t>
            </a:r>
            <a:endParaRPr sz="11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pt-BR" sz="12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Pergunta 10: </a:t>
            </a:r>
            <a:r>
              <a:rPr lang="pt-BR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Horas de sono e atividade física afetam o desempenho?</a:t>
            </a:r>
            <a:endParaRPr sz="1100"/>
          </a:p>
        </p:txBody>
      </p:sp>
      <p:pic>
        <p:nvPicPr>
          <p:cNvPr id="149" name="Google Shape;149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941407" y="0"/>
            <a:ext cx="943024" cy="12526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8"/>
          <p:cNvSpPr txBox="1"/>
          <p:nvPr/>
        </p:nvSpPr>
        <p:spPr>
          <a:xfrm>
            <a:off x="215900" y="196850"/>
            <a:ext cx="7378700" cy="39241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DESCOBERTA</a:t>
            </a:r>
            <a:endParaRPr sz="1100"/>
          </a:p>
        </p:txBody>
      </p:sp>
      <p:sp>
        <p:nvSpPr>
          <p:cNvPr id="156" name="Google Shape;156;p28"/>
          <p:cNvSpPr txBox="1"/>
          <p:nvPr/>
        </p:nvSpPr>
        <p:spPr>
          <a:xfrm>
            <a:off x="215900" y="882650"/>
            <a:ext cx="5074920" cy="36347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Como exploramos os dados (Python, NumPy, Pandas e Matplotlib):</a:t>
            </a:r>
            <a:endParaRPr sz="110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• Limpeza: ausentes preenchidos pela moda e nota 101 limitada a 100</a:t>
            </a:r>
            <a:endParaRPr sz="110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• Faixas com pd.cut e médias por grupo com groupby e pivot_table</a:t>
            </a:r>
            <a:endParaRPr sz="110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• Correlação de Pearson e tendência linear com np.polyfit</a:t>
            </a:r>
            <a:endParaRPr sz="110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• Comparação entre os 10% melhores e os 10% piores alunos</a:t>
            </a:r>
            <a:endParaRPr sz="1100"/>
          </a:p>
          <a:p>
            <a:pPr indent="0" lvl="0" marL="0" marR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b="1" lang="pt-BR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Os 3 maiores desafios do grupo:</a:t>
            </a:r>
            <a:endParaRPr sz="1100"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1" lang="pt-BR" sz="11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1. Dados incompletos: </a:t>
            </a:r>
            <a:r>
              <a:rPr lang="pt-BR" sz="11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235 valores ausentes em 3 colunas e uma nota impossível (101). Era preciso corrigir sem descartar alunos.</a:t>
            </a:r>
            <a:endParaRPr sz="1100"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1" lang="pt-BR" sz="11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2. Categorias como texto: </a:t>
            </a:r>
            <a:r>
              <a:rPr lang="pt-BR" sz="11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Low/Medium/High não tinham ordem; convertemos para categorias ordenadas para os gráficos fazerem sentido.</a:t>
            </a:r>
            <a:endParaRPr sz="1100"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1" lang="pt-BR" sz="11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3. Notas muito concentradas: </a:t>
            </a:r>
            <a:r>
              <a:rPr lang="pt-BR" sz="11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98% entre 60 e 75 (desvio de 3,9). Diferenças de 1 ponto já importam, então comparamos médias por faixa em vez de olhar só a dispersão.</a:t>
            </a:r>
            <a:endParaRPr sz="1100"/>
          </a:p>
        </p:txBody>
      </p:sp>
      <p:pic>
        <p:nvPicPr>
          <p:cNvPr id="157" name="Google Shape;157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2834" y="22498"/>
            <a:ext cx="1376433" cy="113353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ntro_1.png" id="158" name="Google Shape;158;p2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52110" y="1577340"/>
            <a:ext cx="3463290" cy="2087954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8"/>
          <p:cNvSpPr txBox="1"/>
          <p:nvPr/>
        </p:nvSpPr>
        <p:spPr>
          <a:xfrm>
            <a:off x="5452110" y="3703320"/>
            <a:ext cx="346329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pt-BR" sz="90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Distribuição das notas: média 67,2 e desvio padrão 3,9</a:t>
            </a:r>
            <a:endParaRPr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29"/>
          <p:cNvSpPr txBox="1"/>
          <p:nvPr/>
        </p:nvSpPr>
        <p:spPr>
          <a:xfrm>
            <a:off x="215900" y="196850"/>
            <a:ext cx="7378700" cy="39241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ANÁLISE E DIVULGAÇÃO</a:t>
            </a:r>
            <a:endParaRPr sz="1100"/>
          </a:p>
        </p:txBody>
      </p:sp>
      <p:sp>
        <p:nvSpPr>
          <p:cNvPr id="166" name="Google Shape;166;p29"/>
          <p:cNvSpPr txBox="1"/>
          <p:nvPr/>
        </p:nvSpPr>
        <p:spPr>
          <a:xfrm>
            <a:off x="215900" y="589265"/>
            <a:ext cx="6446520" cy="6924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Respostas para as 10 perguntas nos próximos slides. Em sala, apresentamos as perguntas 1 a 5.</a:t>
            </a:r>
            <a:endParaRPr b="1"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Os principais números da análise:</a:t>
            </a:r>
            <a:endParaRPr sz="1100"/>
          </a:p>
        </p:txBody>
      </p:sp>
      <p:pic>
        <p:nvPicPr>
          <p:cNvPr id="167" name="Google Shape;167;p2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772154" y="0"/>
            <a:ext cx="1285941" cy="11097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2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058095" y="35056"/>
            <a:ext cx="1085905" cy="1100194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29"/>
          <p:cNvSpPr/>
          <p:nvPr/>
        </p:nvSpPr>
        <p:spPr>
          <a:xfrm>
            <a:off x="342900" y="1748790"/>
            <a:ext cx="1954530" cy="2194560"/>
          </a:xfrm>
          <a:prstGeom prst="roundRect">
            <a:avLst>
              <a:gd fmla="val 8000" name="adj"/>
            </a:avLst>
          </a:prstGeom>
          <a:solidFill>
            <a:srgbClr val="E6F0FA"/>
          </a:solidFill>
          <a:ln>
            <a:noFill/>
          </a:ln>
        </p:spPr>
        <p:txBody>
          <a:bodyPr anchorCtr="0" anchor="ctr" bIns="34275" lIns="137150" spcFirstLastPara="1" rIns="137150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30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+5,8</a:t>
            </a:r>
            <a:endParaRPr sz="1100"/>
          </a:p>
          <a:p>
            <a:pPr indent="0" lvl="0" marL="0" marR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pontos na nota média de quem vai a mais de 90% das aulas, comparado a quem vai a até 70%</a:t>
            </a:r>
            <a:endParaRPr sz="1100"/>
          </a:p>
        </p:txBody>
      </p:sp>
      <p:sp>
        <p:nvSpPr>
          <p:cNvPr id="170" name="Google Shape;170;p29"/>
          <p:cNvSpPr/>
          <p:nvPr/>
        </p:nvSpPr>
        <p:spPr>
          <a:xfrm>
            <a:off x="2503170" y="1748790"/>
            <a:ext cx="1954530" cy="2194560"/>
          </a:xfrm>
          <a:prstGeom prst="roundRect">
            <a:avLst>
              <a:gd fmla="val 8000" name="adj"/>
            </a:avLst>
          </a:prstGeom>
          <a:solidFill>
            <a:srgbClr val="E6F0FA"/>
          </a:solidFill>
          <a:ln>
            <a:noFill/>
          </a:ln>
        </p:spPr>
        <p:txBody>
          <a:bodyPr anchorCtr="0" anchor="ctr" bIns="34275" lIns="137150" spcFirstLastPara="1" rIns="137150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30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+0,3</a:t>
            </a:r>
            <a:endParaRPr sz="1100"/>
          </a:p>
          <a:p>
            <a:pPr indent="0" lvl="0" marL="0" marR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ponto na nota para cada hora semanal a mais de estudo</a:t>
            </a:r>
            <a:endParaRPr sz="1100"/>
          </a:p>
        </p:txBody>
      </p:sp>
      <p:sp>
        <p:nvSpPr>
          <p:cNvPr id="171" name="Google Shape;171;p29"/>
          <p:cNvSpPr/>
          <p:nvPr/>
        </p:nvSpPr>
        <p:spPr>
          <a:xfrm>
            <a:off x="4663440" y="1748790"/>
            <a:ext cx="1954530" cy="2194560"/>
          </a:xfrm>
          <a:prstGeom prst="roundRect">
            <a:avLst>
              <a:gd fmla="val 8000" name="adj"/>
            </a:avLst>
          </a:prstGeom>
          <a:solidFill>
            <a:srgbClr val="E6F0FA"/>
          </a:solidFill>
          <a:ln>
            <a:noFill/>
          </a:ln>
        </p:spPr>
        <p:txBody>
          <a:bodyPr anchorCtr="0" anchor="ctr" bIns="34275" lIns="137150" spcFirstLastPara="1" rIns="137150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30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91% x 68%</a:t>
            </a:r>
            <a:endParaRPr sz="1100"/>
          </a:p>
          <a:p>
            <a:pPr indent="0" lvl="0" marL="0" marR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de frequência média entre os 10% melhores e os 10% piores alunos</a:t>
            </a:r>
            <a:endParaRPr sz="1100"/>
          </a:p>
        </p:txBody>
      </p:sp>
      <p:sp>
        <p:nvSpPr>
          <p:cNvPr id="172" name="Google Shape;172;p29"/>
          <p:cNvSpPr/>
          <p:nvPr/>
        </p:nvSpPr>
        <p:spPr>
          <a:xfrm>
            <a:off x="6823710" y="1748790"/>
            <a:ext cx="1954530" cy="2194560"/>
          </a:xfrm>
          <a:prstGeom prst="roundRect">
            <a:avLst>
              <a:gd fmla="val 8000" name="adj"/>
            </a:avLst>
          </a:prstGeom>
          <a:solidFill>
            <a:srgbClr val="E6F0FA"/>
          </a:solidFill>
          <a:ln>
            <a:noFill/>
          </a:ln>
        </p:spPr>
        <p:txBody>
          <a:bodyPr anchorCtr="0" anchor="ctr" bIns="34275" lIns="137150" spcFirstLastPara="1" rIns="137150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30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≈ 0</a:t>
            </a:r>
            <a:endParaRPr sz="1100"/>
          </a:p>
          <a:p>
            <a:pPr indent="0" lvl="0" marL="0" marR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de relação entre a nota e o sono ou a atividade física</a:t>
            </a:r>
            <a:endParaRPr sz="11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Google Shape;178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30"/>
          <p:cNvSpPr txBox="1"/>
          <p:nvPr/>
        </p:nvSpPr>
        <p:spPr>
          <a:xfrm>
            <a:off x="215900" y="196850"/>
            <a:ext cx="7378700" cy="39241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ANÁLISE E DIVULGAÇÃO · PERGUNTA 1</a:t>
            </a:r>
            <a:endParaRPr sz="1100"/>
          </a:p>
        </p:txBody>
      </p:sp>
      <p:sp>
        <p:nvSpPr>
          <p:cNvPr id="180" name="Google Shape;180;p30"/>
          <p:cNvSpPr txBox="1"/>
          <p:nvPr/>
        </p:nvSpPr>
        <p:spPr>
          <a:xfrm>
            <a:off x="215900" y="589265"/>
            <a:ext cx="6446520" cy="6924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4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A frequência às aulas influencia a nota? Quanto vale cada ponto de presença?</a:t>
            </a:r>
            <a:endParaRPr b="1"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1" name="Google Shape;181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772154" y="0"/>
            <a:ext cx="1285941" cy="11097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Google Shape;182;p3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058095" y="35056"/>
            <a:ext cx="1085905" cy="11001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01_1.png" id="183" name="Google Shape;183;p3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335361" y="1303020"/>
            <a:ext cx="6450416" cy="2468880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30"/>
          <p:cNvSpPr txBox="1"/>
          <p:nvPr/>
        </p:nvSpPr>
        <p:spPr>
          <a:xfrm>
            <a:off x="342900" y="3840480"/>
            <a:ext cx="8435340" cy="72009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Resposta: </a:t>
            </a: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Frequência é o fator mais forte (correlação 0,58). Quem vai a mais de 90% das aulas tira em média 70,2, contra 64,3 de quem vai a até 70%: quase 6 pontos de diferença.</a:t>
            </a:r>
            <a:endParaRPr sz="1100"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1" lang="pt-BR" sz="100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Cada ponto percentual de presença vale cerca de 0,2 ponto na nota. Mensagem principal do trabalho.</a:t>
            </a:r>
            <a:endParaRPr sz="11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0" name="Google Shape;190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31"/>
          <p:cNvSpPr txBox="1"/>
          <p:nvPr/>
        </p:nvSpPr>
        <p:spPr>
          <a:xfrm>
            <a:off x="215900" y="196850"/>
            <a:ext cx="7378700" cy="39241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ANÁLISE E DIVULGAÇÃO · PERGUNTA 2</a:t>
            </a:r>
            <a:endParaRPr sz="1100"/>
          </a:p>
        </p:txBody>
      </p:sp>
      <p:sp>
        <p:nvSpPr>
          <p:cNvPr id="192" name="Google Shape;192;p31"/>
          <p:cNvSpPr txBox="1"/>
          <p:nvPr/>
        </p:nvSpPr>
        <p:spPr>
          <a:xfrm>
            <a:off x="215900" y="589265"/>
            <a:ext cx="6446520" cy="6924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4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Quanto mais horas de estudo, maior a nota? Existe retorno decrescente?</a:t>
            </a:r>
            <a:endParaRPr b="1"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3" name="Google Shape;193;p3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772154" y="0"/>
            <a:ext cx="1285941" cy="11097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058095" y="35056"/>
            <a:ext cx="1085905" cy="11001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02_1.png" id="195" name="Google Shape;195;p3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332305" y="1303020"/>
            <a:ext cx="6456530" cy="2468880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31"/>
          <p:cNvSpPr txBox="1"/>
          <p:nvPr/>
        </p:nvSpPr>
        <p:spPr>
          <a:xfrm>
            <a:off x="342900" y="3840480"/>
            <a:ext cx="8435340" cy="72009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Resposta: </a:t>
            </a: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Cada hora semanal de estudo soma cerca de 0,3 ponto na nota. O ganho continua estável (~1,5 ponto a cada 5 horas) até nas faixas mais altas: não há platô nos dados.</a:t>
            </a:r>
            <a:endParaRPr sz="1100"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1" lang="pt-BR" sz="100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Correlação de 0,45, o segundo fator mais forte.</a:t>
            </a:r>
            <a:endParaRPr sz="11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Google Shape;202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Google Shape;203;p32"/>
          <p:cNvSpPr txBox="1"/>
          <p:nvPr/>
        </p:nvSpPr>
        <p:spPr>
          <a:xfrm>
            <a:off x="215900" y="196850"/>
            <a:ext cx="7378700" cy="39241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ANÁLISE E DIVULGAÇÃO · PERGUNTA 3</a:t>
            </a:r>
            <a:endParaRPr sz="1100"/>
          </a:p>
        </p:txBody>
      </p:sp>
      <p:sp>
        <p:nvSpPr>
          <p:cNvPr id="204" name="Google Shape;204;p32"/>
          <p:cNvSpPr txBox="1"/>
          <p:nvPr/>
        </p:nvSpPr>
        <p:spPr>
          <a:xfrm>
            <a:off x="215900" y="589265"/>
            <a:ext cx="6446520" cy="6924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4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Qual é o perfil dos 10% melhores alunos comparado aos 10% piores?</a:t>
            </a:r>
            <a:endParaRPr b="1"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5" name="Google Shape;205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772154" y="0"/>
            <a:ext cx="1285941" cy="11097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3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058095" y="35056"/>
            <a:ext cx="1085905" cy="11001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03_1.png" id="207" name="Google Shape;207;p3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95947" y="1303020"/>
            <a:ext cx="6929245" cy="246888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2"/>
          <p:cNvSpPr txBox="1"/>
          <p:nvPr/>
        </p:nvSpPr>
        <p:spPr>
          <a:xfrm>
            <a:off x="342900" y="3840480"/>
            <a:ext cx="8435340" cy="72009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Resposta: </a:t>
            </a: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Os 10% melhores vão a 91% das aulas (contra 68%) e estudam 10 horas a mais por semana. Têm mais que o dobro de pais muito envolvidos e de acesso alto a recursos.</a:t>
            </a:r>
            <a:endParaRPr sz="1100"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1" lang="pt-BR" sz="100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Top 10%: nota 72 ou mais. Base 10%: nota 63 ou menos.</a:t>
            </a:r>
            <a:endParaRPr sz="11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4" name="Google Shape;21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p33"/>
          <p:cNvSpPr txBox="1"/>
          <p:nvPr/>
        </p:nvSpPr>
        <p:spPr>
          <a:xfrm>
            <a:off x="215900" y="196850"/>
            <a:ext cx="7378700" cy="39241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ANÁLISE E DIVULGAÇÃO · PERGUNTA 4</a:t>
            </a:r>
            <a:endParaRPr sz="1100"/>
          </a:p>
        </p:txBody>
      </p:sp>
      <p:sp>
        <p:nvSpPr>
          <p:cNvPr id="216" name="Google Shape;216;p33"/>
          <p:cNvSpPr txBox="1"/>
          <p:nvPr/>
        </p:nvSpPr>
        <p:spPr>
          <a:xfrm>
            <a:off x="215900" y="589265"/>
            <a:ext cx="6446520" cy="6924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4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A renda familiar e o acesso a recursos criam desigualdade nas notas?</a:t>
            </a:r>
            <a:endParaRPr b="1"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7" name="Google Shape;217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772154" y="0"/>
            <a:ext cx="1285941" cy="11097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" name="Google Shape;218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058095" y="35056"/>
            <a:ext cx="1085905" cy="11001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04_1.png" id="219" name="Google Shape;219;p3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990" y="1303020"/>
            <a:ext cx="7977158" cy="2468880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33"/>
          <p:cNvSpPr txBox="1"/>
          <p:nvPr/>
        </p:nvSpPr>
        <p:spPr>
          <a:xfrm>
            <a:off x="342900" y="3840480"/>
            <a:ext cx="8435340" cy="72009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Resposta: </a:t>
            </a: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Há desigualdade, mas acesso a recursos pesa mais que renda: alunos de baixa renda com muitos recursos (67,5) superam os de alta renda com poucos recursos (66,8).</a:t>
            </a:r>
            <a:endParaRPr sz="1100"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1" lang="pt-BR" sz="100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Aponta para distribuição de material e inclusão digital (7,6% dos alunos não têm internet).</a:t>
            </a:r>
            <a:endParaRPr sz="11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6" name="Google Shape;226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34"/>
          <p:cNvSpPr txBox="1"/>
          <p:nvPr/>
        </p:nvSpPr>
        <p:spPr>
          <a:xfrm>
            <a:off x="215900" y="196850"/>
            <a:ext cx="7378700" cy="39241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ANÁLISE E DIVULGAÇÃO · PERGUNTA 5</a:t>
            </a:r>
            <a:endParaRPr sz="1100"/>
          </a:p>
        </p:txBody>
      </p:sp>
      <p:sp>
        <p:nvSpPr>
          <p:cNvPr id="228" name="Google Shape;228;p34"/>
          <p:cNvSpPr txBox="1"/>
          <p:nvPr/>
        </p:nvSpPr>
        <p:spPr>
          <a:xfrm>
            <a:off x="215900" y="589265"/>
            <a:ext cx="6446520" cy="6924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4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O envolvimento e a escolaridade dos pais fazem diferença?</a:t>
            </a:r>
            <a:endParaRPr b="1"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9" name="Google Shape;229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772154" y="0"/>
            <a:ext cx="1285941" cy="11097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058095" y="35056"/>
            <a:ext cx="1085905" cy="11001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05_1.png" id="231" name="Google Shape;231;p3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94266" y="1303020"/>
            <a:ext cx="7132607" cy="2468880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34"/>
          <p:cNvSpPr txBox="1"/>
          <p:nvPr/>
        </p:nvSpPr>
        <p:spPr>
          <a:xfrm>
            <a:off x="342900" y="3840480"/>
            <a:ext cx="8435340" cy="72009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Resposta: </a:t>
            </a: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 envolvimento dos pais pesa mais que a escolaridade deles: filhos de pais só com ensino médio, mas muito envolvidos (67,8), superam os de pais pós-graduados pouco envolvidos (67,1).</a:t>
            </a:r>
            <a:endParaRPr sz="1100"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1" lang="pt-BR" sz="100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Aproximar família e escola funciona independentemente da formação dos pais.</a:t>
            </a:r>
            <a:endParaRPr sz="11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8" name="Google Shape;23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35"/>
          <p:cNvSpPr txBox="1"/>
          <p:nvPr/>
        </p:nvSpPr>
        <p:spPr>
          <a:xfrm>
            <a:off x="215900" y="196850"/>
            <a:ext cx="7378700" cy="39241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ANÁLISE E DIVULGAÇÃO · PERGUNTA 6</a:t>
            </a:r>
            <a:endParaRPr sz="1100"/>
          </a:p>
        </p:txBody>
      </p:sp>
      <p:sp>
        <p:nvSpPr>
          <p:cNvPr id="240" name="Google Shape;240;p35"/>
          <p:cNvSpPr txBox="1"/>
          <p:nvPr/>
        </p:nvSpPr>
        <p:spPr>
          <a:xfrm>
            <a:off x="215900" y="589265"/>
            <a:ext cx="6446520" cy="6924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4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Entre os fatores numéricos, quais têm maior relação com a nota?</a:t>
            </a:r>
            <a:endParaRPr b="1"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1" name="Google Shape;241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772154" y="0"/>
            <a:ext cx="1285941" cy="11097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2" name="Google Shape;242;p3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058095" y="35056"/>
            <a:ext cx="1085905" cy="11001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06_2.png" id="243" name="Google Shape;243;p3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42900" y="1303020"/>
            <a:ext cx="5212080" cy="2529218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35"/>
          <p:cNvSpPr txBox="1"/>
          <p:nvPr/>
        </p:nvSpPr>
        <p:spPr>
          <a:xfrm>
            <a:off x="5829300" y="1577340"/>
            <a:ext cx="294894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Resposta: </a:t>
            </a: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Frequência (0,58) e horas de estudo (0,45) dominam. Notas anteriores e tutoria têm efeito pequeno, e sono e atividade física ficam praticamente em zero.</a:t>
            </a:r>
            <a:endParaRPr sz="1100"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1" lang="pt-BR" sz="100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As variáveis quase não se correlacionam entre si: cada uma traz informação própria.</a:t>
            </a:r>
            <a:endParaRPr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0" name="Google Shape;250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36"/>
          <p:cNvSpPr txBox="1"/>
          <p:nvPr/>
        </p:nvSpPr>
        <p:spPr>
          <a:xfrm>
            <a:off x="215900" y="196850"/>
            <a:ext cx="7378700" cy="39241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ANÁLISE E DIVULGAÇÃO · PERGUNTA 7</a:t>
            </a:r>
            <a:endParaRPr sz="1100"/>
          </a:p>
        </p:txBody>
      </p:sp>
      <p:sp>
        <p:nvSpPr>
          <p:cNvPr id="252" name="Google Shape;252;p36"/>
          <p:cNvSpPr txBox="1"/>
          <p:nvPr/>
        </p:nvSpPr>
        <p:spPr>
          <a:xfrm>
            <a:off x="215900" y="589265"/>
            <a:ext cx="6446520" cy="6924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4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Aulas de reforço (tutoria) compensam? Até quantas sessões vale a pena?</a:t>
            </a:r>
            <a:endParaRPr b="1"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3" name="Google Shape;253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772154" y="0"/>
            <a:ext cx="1285941" cy="11097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4" name="Google Shape;254;p3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058095" y="35056"/>
            <a:ext cx="1085905" cy="11001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07_1.png" id="255" name="Google Shape;255;p3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42900" y="1303020"/>
            <a:ext cx="5212080" cy="3191256"/>
          </a:xfrm>
          <a:prstGeom prst="rect">
            <a:avLst/>
          </a:prstGeom>
          <a:noFill/>
          <a:ln>
            <a:noFill/>
          </a:ln>
        </p:spPr>
      </p:pic>
      <p:sp>
        <p:nvSpPr>
          <p:cNvPr id="256" name="Google Shape;256;p36"/>
          <p:cNvSpPr txBox="1"/>
          <p:nvPr/>
        </p:nvSpPr>
        <p:spPr>
          <a:xfrm>
            <a:off x="5829300" y="1577340"/>
            <a:ext cx="294894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Resposta: </a:t>
            </a: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Cada sessão mensal de tutoria acrescenta de 0,3 a 0,6 ponto. Quatro sessões rendem cerca de 1,7 ponto a mais que nenhuma.</a:t>
            </a:r>
            <a:endParaRPr sz="1100"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1" lang="pt-BR" sz="100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Ajuda, mas vale menos que frequência e estudo regular: é complemento, não substituto.</a:t>
            </a:r>
            <a:endParaRPr sz="11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oogle Shape;26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p37"/>
          <p:cNvSpPr txBox="1"/>
          <p:nvPr/>
        </p:nvSpPr>
        <p:spPr>
          <a:xfrm>
            <a:off x="215900" y="196850"/>
            <a:ext cx="7378700" cy="39241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ANÁLISE E DIVULGAÇÃO · PERGUNTA 8</a:t>
            </a:r>
            <a:endParaRPr sz="1100"/>
          </a:p>
        </p:txBody>
      </p:sp>
      <p:sp>
        <p:nvSpPr>
          <p:cNvPr id="264" name="Google Shape;264;p37"/>
          <p:cNvSpPr txBox="1"/>
          <p:nvPr/>
        </p:nvSpPr>
        <p:spPr>
          <a:xfrm>
            <a:off x="215900" y="589265"/>
            <a:ext cx="6446520" cy="6924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4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Motivação, qualidade do professor e influência dos colegas: qual pesa mais?</a:t>
            </a:r>
            <a:endParaRPr b="1"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5" name="Google Shape;265;p3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772154" y="0"/>
            <a:ext cx="1285941" cy="11097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6" name="Google Shape;266;p3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058095" y="35056"/>
            <a:ext cx="1085905" cy="11001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08_1.png" id="267" name="Google Shape;267;p3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990" y="1303020"/>
            <a:ext cx="7977158" cy="2468880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p37"/>
          <p:cNvSpPr txBox="1"/>
          <p:nvPr/>
        </p:nvSpPr>
        <p:spPr>
          <a:xfrm>
            <a:off x="342900" y="3840480"/>
            <a:ext cx="8435340" cy="72009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Resposta: </a:t>
            </a: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Os três fatores têm efeito parecido, em torno de 1 ponto entre o pior e o melhor nível. Colegas positivos valem tanto quanto um professor de alta qualidade.</a:t>
            </a:r>
            <a:endParaRPr sz="1100"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1" lang="pt-BR" sz="100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Reforça projetos em grupo e monitoria entre alunos.</a:t>
            </a:r>
            <a:endParaRPr sz="11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4" name="Google Shape;274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75" name="Google Shape;275;p38"/>
          <p:cNvSpPr txBox="1"/>
          <p:nvPr/>
        </p:nvSpPr>
        <p:spPr>
          <a:xfrm>
            <a:off x="215900" y="196850"/>
            <a:ext cx="7378700" cy="39241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ANÁLISE E DIVULGAÇÃO · PERGUNTA 9</a:t>
            </a:r>
            <a:endParaRPr sz="1100"/>
          </a:p>
        </p:txBody>
      </p:sp>
      <p:sp>
        <p:nvSpPr>
          <p:cNvPr id="276" name="Google Shape;276;p38"/>
          <p:cNvSpPr txBox="1"/>
          <p:nvPr/>
        </p:nvSpPr>
        <p:spPr>
          <a:xfrm>
            <a:off x="215900" y="589265"/>
            <a:ext cx="6446520" cy="6924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4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Alunos de escola privada vão melhor que os de escola pública?</a:t>
            </a:r>
            <a:endParaRPr b="1"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7" name="Google Shape;277;p3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772154" y="0"/>
            <a:ext cx="1285941" cy="11097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8" name="Google Shape;278;p3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058095" y="35056"/>
            <a:ext cx="1085905" cy="11001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09_1.png" id="279" name="Google Shape;279;p3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42900" y="1303020"/>
            <a:ext cx="5212080" cy="2996795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38"/>
          <p:cNvSpPr txBox="1"/>
          <p:nvPr/>
        </p:nvSpPr>
        <p:spPr>
          <a:xfrm>
            <a:off x="5829300" y="1577340"/>
            <a:ext cx="294894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Resposta: </a:t>
            </a: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Diferença desprezível: 67,29 na escola privada contra 67,21 na pública. Horas de estudo, frequência e tutoria também são praticamente iguais nos dois grupos.</a:t>
            </a:r>
            <a:endParaRPr sz="1100"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1" lang="pt-BR" sz="100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O tipo de escola não define o desempenho neste dataset.</a:t>
            </a:r>
            <a:endParaRPr sz="11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87" name="Google Shape;287;p39"/>
          <p:cNvSpPr txBox="1"/>
          <p:nvPr/>
        </p:nvSpPr>
        <p:spPr>
          <a:xfrm>
            <a:off x="215900" y="196850"/>
            <a:ext cx="7378700" cy="39241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ANÁLISE E DIVULGAÇÃO · PERGUNTA 10</a:t>
            </a:r>
            <a:endParaRPr sz="1100"/>
          </a:p>
        </p:txBody>
      </p:sp>
      <p:sp>
        <p:nvSpPr>
          <p:cNvPr id="288" name="Google Shape;288;p39"/>
          <p:cNvSpPr txBox="1"/>
          <p:nvPr/>
        </p:nvSpPr>
        <p:spPr>
          <a:xfrm>
            <a:off x="215900" y="589265"/>
            <a:ext cx="6446520" cy="6924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4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Horas de sono e atividade física afetam o desempenho?</a:t>
            </a:r>
            <a:endParaRPr b="1"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9" name="Google Shape;289;p3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772154" y="0"/>
            <a:ext cx="1285941" cy="11097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0" name="Google Shape;290;p3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058095" y="35056"/>
            <a:ext cx="1085905" cy="11001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10_1.png" id="291" name="Google Shape;291;p3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96705" y="1303020"/>
            <a:ext cx="7127729" cy="2468880"/>
          </a:xfrm>
          <a:prstGeom prst="rect">
            <a:avLst/>
          </a:prstGeom>
          <a:noFill/>
          <a:ln>
            <a:noFill/>
          </a:ln>
        </p:spPr>
      </p:pic>
      <p:sp>
        <p:nvSpPr>
          <p:cNvPr id="292" name="Google Shape;292;p39"/>
          <p:cNvSpPr txBox="1"/>
          <p:nvPr/>
        </p:nvSpPr>
        <p:spPr>
          <a:xfrm>
            <a:off x="342900" y="3840480"/>
            <a:ext cx="8435340" cy="72009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Resposta: </a:t>
            </a:r>
            <a:r>
              <a:rPr lang="pt-BR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Correlação praticamente zero com a nota (-0,02 para sono e 0,03 para atividade física). As variações entre grupos ficam em torno de 1 ponto, sem tendência.</a:t>
            </a:r>
            <a:endParaRPr sz="1100"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i="1" lang="pt-BR" sz="100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São importantes para a saúde, mas não explicam o desempenho aqui.</a:t>
            </a:r>
            <a:endParaRPr sz="11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7" name="Google Shape;297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98" name="Google Shape;298;p40"/>
          <p:cNvSpPr txBox="1"/>
          <p:nvPr/>
        </p:nvSpPr>
        <p:spPr>
          <a:xfrm>
            <a:off x="215900" y="196850"/>
            <a:ext cx="7378700" cy="39241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CONCLUSÕES E RECOMENDAÇÕES</a:t>
            </a:r>
            <a:endParaRPr sz="1100"/>
          </a:p>
        </p:txBody>
      </p:sp>
      <p:sp>
        <p:nvSpPr>
          <p:cNvPr id="299" name="Google Shape;299;p40"/>
          <p:cNvSpPr txBox="1"/>
          <p:nvPr/>
        </p:nvSpPr>
        <p:spPr>
          <a:xfrm>
            <a:off x="215900" y="589265"/>
            <a:ext cx="6446520" cy="6924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4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Bom desempenho = hábito (presença e estudo) + rede de apoio (família, recursos e colegas)</a:t>
            </a:r>
            <a:endParaRPr b="1"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0" name="Google Shape;300;p4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772154" y="0"/>
            <a:ext cx="1285941" cy="110972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1" name="Google Shape;301;p4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058095" y="35056"/>
            <a:ext cx="1085905" cy="1100194"/>
          </a:xfrm>
          <a:prstGeom prst="rect">
            <a:avLst/>
          </a:prstGeom>
          <a:noFill/>
          <a:ln>
            <a:noFill/>
          </a:ln>
        </p:spPr>
      </p:pic>
      <p:sp>
        <p:nvSpPr>
          <p:cNvPr id="302" name="Google Shape;302;p40"/>
          <p:cNvSpPr/>
          <p:nvPr/>
        </p:nvSpPr>
        <p:spPr>
          <a:xfrm>
            <a:off x="342900" y="1645920"/>
            <a:ext cx="2674620" cy="1783080"/>
          </a:xfrm>
          <a:prstGeom prst="roundRect">
            <a:avLst>
              <a:gd fmla="val 8000" name="adj"/>
            </a:avLst>
          </a:prstGeom>
          <a:solidFill>
            <a:srgbClr val="E6F0FA"/>
          </a:solidFill>
          <a:ln>
            <a:noFill/>
          </a:ln>
        </p:spPr>
        <p:txBody>
          <a:bodyPr anchorCtr="0" anchor="t" bIns="34275" lIns="171450" spcFirstLastPara="1" rIns="171450" wrap="square" tIns="1714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7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Escolas e governo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pt-BR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Priorizar programas contra faltas e evasão e a distribuição de recursos e inclusão digital. São os fatores de maior efeito e atacam a desigualdade.</a:t>
            </a:r>
            <a:endParaRPr sz="1100"/>
          </a:p>
        </p:txBody>
      </p:sp>
      <p:sp>
        <p:nvSpPr>
          <p:cNvPr id="303" name="Google Shape;303;p40"/>
          <p:cNvSpPr/>
          <p:nvPr/>
        </p:nvSpPr>
        <p:spPr>
          <a:xfrm>
            <a:off x="3257550" y="1645920"/>
            <a:ext cx="2674620" cy="1783080"/>
          </a:xfrm>
          <a:prstGeom prst="roundRect">
            <a:avLst>
              <a:gd fmla="val 8000" name="adj"/>
            </a:avLst>
          </a:prstGeom>
          <a:solidFill>
            <a:srgbClr val="E6F0FA"/>
          </a:solidFill>
          <a:ln>
            <a:noFill/>
          </a:ln>
        </p:spPr>
        <p:txBody>
          <a:bodyPr anchorCtr="0" anchor="t" bIns="34275" lIns="171450" spcFirstLastPara="1" rIns="171450" wrap="square" tIns="1714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7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Famílias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pt-BR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Acompanhar a rotina do aluno vale mais que a formação acadêmica dos pais. Envolvimento é algo que toda família pode oferecer.</a:t>
            </a:r>
            <a:endParaRPr sz="1100"/>
          </a:p>
        </p:txBody>
      </p:sp>
      <p:sp>
        <p:nvSpPr>
          <p:cNvPr id="304" name="Google Shape;304;p40"/>
          <p:cNvSpPr/>
          <p:nvPr/>
        </p:nvSpPr>
        <p:spPr>
          <a:xfrm>
            <a:off x="6172200" y="1645920"/>
            <a:ext cx="2674620" cy="1783080"/>
          </a:xfrm>
          <a:prstGeom prst="roundRect">
            <a:avLst>
              <a:gd fmla="val 8000" name="adj"/>
            </a:avLst>
          </a:prstGeom>
          <a:solidFill>
            <a:srgbClr val="E6F0FA"/>
          </a:solidFill>
          <a:ln>
            <a:noFill/>
          </a:ln>
        </p:spPr>
        <p:txBody>
          <a:bodyPr anchorCtr="0" anchor="t" bIns="34275" lIns="171450" spcFirstLastPara="1" rIns="171450" wrap="square" tIns="1714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7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Alunos</a:t>
            </a:r>
            <a:endParaRPr sz="11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pt-BR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Presença e constância nas horas de estudo rendem mais que aulas de reforço pontuais. Sono e atividade física não mudam a nota.</a:t>
            </a:r>
            <a:endParaRPr sz="1100"/>
          </a:p>
        </p:txBody>
      </p:sp>
      <p:sp>
        <p:nvSpPr>
          <p:cNvPr id="305" name="Google Shape;305;p40"/>
          <p:cNvSpPr txBox="1"/>
          <p:nvPr/>
        </p:nvSpPr>
        <p:spPr>
          <a:xfrm>
            <a:off x="342900" y="3669030"/>
            <a:ext cx="84353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pt-BR" sz="100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Limitação: o dataset é observacional e, segundo o autor no Kaggle, parcialmente sintético. Os resultados mostram associações, não causalidade.</a:t>
            </a:r>
            <a:endParaRPr sz="11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0" name="Google Shape;310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11" name="Google Shape;311;p41"/>
          <p:cNvSpPr txBox="1"/>
          <p:nvPr/>
        </p:nvSpPr>
        <p:spPr>
          <a:xfrm>
            <a:off x="447674" y="1856170"/>
            <a:ext cx="8248650" cy="71558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Projeto I – C11/C111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Apresentação dos Resultados</a:t>
            </a:r>
            <a:endParaRPr sz="1100"/>
          </a:p>
        </p:txBody>
      </p:sp>
      <p:sp>
        <p:nvSpPr>
          <p:cNvPr id="312" name="Google Shape;312;p41"/>
          <p:cNvSpPr txBox="1"/>
          <p:nvPr/>
        </p:nvSpPr>
        <p:spPr>
          <a:xfrm>
            <a:off x="2901949" y="2712605"/>
            <a:ext cx="3340100" cy="163891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OBRIGADO!</a:t>
            </a:r>
            <a:endParaRPr sz="2100">
              <a:solidFill>
                <a:srgbClr val="0070C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Equipe: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Gabriel de Souza Pivoto – C111 – Matrícula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Aluna(o) 2 – Sigla Curso – Matrícula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Aluna(o) 3 – Sigla Curso – Matrícula</a:t>
            </a:r>
            <a:endParaRPr sz="11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o Office">
  <a:themeElements>
    <a:clrScheme name="Escritório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